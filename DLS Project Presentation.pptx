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6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FC0A92-DB3B-A5FD-8778-3BCCA027E74D}" v="90" dt="2025-12-14T02:36:42.374"/>
    <p1510:client id="{E844359B-876E-7561-CFE0-3DAA82D2A131}" v="853" dt="2025-12-14T06:11:51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1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4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6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48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2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5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93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1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6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5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7808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225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3276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78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81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6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76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OCR and Normalization</a:t>
            </a:r>
          </a:p>
          <a:p>
            <a:r>
              <a:t>for Early Modern English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Graduate Deep Learning Systems Project</a:t>
            </a:r>
          </a:p>
          <a:p>
            <a:r>
              <a:t>Kraken OCR + Mistral-7B Normalization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Setting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Modern English (EME) texts are difficult for OCR and NLP</a:t>
            </a:r>
          </a:p>
          <a:p>
            <a:r>
              <a:t>Challenges: archaic spelling, long-s, ligatures, noisy scans</a:t>
            </a:r>
          </a:p>
          <a:p>
            <a:r>
              <a:t>Goal: produce readable, searchable modernized text from scans</a:t>
            </a:r>
          </a:p>
          <a:p>
            <a:r>
              <a:t>Approach: two-stage deep learning pipeline (OCR → normalization)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System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Bentham Papers (11,473 labeled line images)</a:t>
            </a:r>
          </a:p>
          <a:p>
            <a:r>
              <a:t>Stage 1 – OCR: image → character sequence</a:t>
            </a:r>
          </a:p>
          <a:p>
            <a:r>
              <a:t>Stage 2 – Normalization: noisy OCR → corrected/modernized text</a:t>
            </a:r>
          </a:p>
          <a:p>
            <a:r>
              <a:t>Evaluation focuses on both OCR quality and downstream correction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0945-A725-481F-854D-ACCF114DA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72571"/>
            <a:ext cx="6347713" cy="513977"/>
          </a:xfrm>
        </p:spPr>
        <p:txBody>
          <a:bodyPr>
            <a:normAutofit fontScale="90000"/>
          </a:bodyPr>
          <a:lstStyle/>
          <a:p>
            <a:r>
              <a:rPr lang="en-US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B44D6-E893-9095-7667-DBD74DB91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681414"/>
            <a:ext cx="8297537" cy="601885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endParaRPr lang="en-US" sz="600" b="1"/>
          </a:p>
          <a:p>
            <a:pPr marL="0" indent="0" algn="just">
              <a:buNone/>
            </a:pPr>
            <a:r>
              <a:rPr lang="en-US" sz="2600" b="1"/>
              <a:t>OCR Model</a:t>
            </a:r>
            <a:endParaRPr lang="en-US" sz="2600"/>
          </a:p>
          <a:p>
            <a:pPr marL="0" indent="0" algn="just">
              <a:buNone/>
            </a:pPr>
            <a:endParaRPr lang="en-US" sz="800" b="1"/>
          </a:p>
          <a:p>
            <a:pPr marL="285750" indent="-285750" algn="just"/>
            <a:r>
              <a:rPr lang="en-US" sz="2000" b="1"/>
              <a:t>Shi et al., 2015 (CRNN)</a:t>
            </a:r>
          </a:p>
          <a:p>
            <a:pPr marL="0" indent="0" algn="just">
              <a:buNone/>
            </a:pPr>
            <a:r>
              <a:rPr lang="en-US" sz="2000"/>
              <a:t>Introduced CNN-</a:t>
            </a:r>
            <a:r>
              <a:rPr lang="en-US" sz="2000" err="1"/>
              <a:t>BiLSTM</a:t>
            </a:r>
            <a:r>
              <a:rPr lang="en-US" sz="2000"/>
              <a:t>-CTC architecture, forming the basis of our </a:t>
            </a:r>
            <a:r>
              <a:rPr lang="en-US" sz="2000" err="1"/>
              <a:t>PyTorch</a:t>
            </a:r>
            <a:r>
              <a:rPr lang="en-US" sz="2000"/>
              <a:t> OCR baseline and modern HR systems like Kraken.</a:t>
            </a:r>
          </a:p>
          <a:p>
            <a:pPr marL="285750" indent="-285750" algn="just"/>
            <a:r>
              <a:rPr lang="en-US" sz="2000" b="1" err="1"/>
              <a:t>Maarand</a:t>
            </a:r>
            <a:r>
              <a:rPr lang="en-US" sz="2000" b="1"/>
              <a:t> et al., DAS 2022 (Open-source HTR comparison)</a:t>
            </a:r>
          </a:p>
          <a:p>
            <a:pPr marL="0" indent="0" algn="just">
              <a:buNone/>
            </a:pPr>
            <a:r>
              <a:rPr lang="en-US" sz="2000"/>
              <a:t>Shows Kraken's strong performance on historical handwriting, motivating its inclusion and explaining its superior results.</a:t>
            </a:r>
          </a:p>
          <a:p>
            <a:pPr marL="285750" indent="-285750" algn="just"/>
            <a:r>
              <a:rPr lang="en-US" sz="2000" b="1" err="1"/>
              <a:t>Westerdijk</a:t>
            </a:r>
            <a:r>
              <a:rPr lang="en-US" sz="2000" b="1"/>
              <a:t> et al., 2025 (Historical OCR comparison)</a:t>
            </a:r>
          </a:p>
          <a:p>
            <a:pPr marL="0" indent="0" algn="just">
              <a:buNone/>
            </a:pPr>
            <a:r>
              <a:rPr lang="en-US" sz="2000"/>
              <a:t>Directly compares </a:t>
            </a:r>
            <a:r>
              <a:rPr lang="en-US" sz="2000" err="1"/>
              <a:t>TrOCR</a:t>
            </a:r>
            <a:r>
              <a:rPr lang="en-US" sz="2000"/>
              <a:t> and Kraken on historical texts and finds Kraken more robust on handwritten manuscripts, aligning with our findings.</a:t>
            </a:r>
          </a:p>
          <a:p>
            <a:pPr marL="0" indent="0" algn="just">
              <a:buNone/>
            </a:pPr>
            <a:endParaRPr lang="en-US" sz="800"/>
          </a:p>
          <a:p>
            <a:pPr marL="0" indent="0" algn="just">
              <a:buNone/>
            </a:pPr>
            <a:r>
              <a:rPr lang="en-US" sz="2600" b="1"/>
              <a:t>NLP Model</a:t>
            </a:r>
          </a:p>
          <a:p>
            <a:pPr marL="0" indent="0" algn="just">
              <a:buNone/>
            </a:pPr>
            <a:endParaRPr lang="en-US" sz="800" b="1"/>
          </a:p>
          <a:p>
            <a:pPr marL="285750" indent="-285750" algn="just"/>
            <a:r>
              <a:rPr lang="en-US" sz="2000" b="1"/>
              <a:t>Reynaert, 2008 – Classical OCR post-correction</a:t>
            </a:r>
          </a:p>
          <a:p>
            <a:pPr marL="0" indent="0" algn="just">
              <a:buNone/>
            </a:pPr>
            <a:r>
              <a:rPr lang="en-US" sz="2000"/>
              <a:t>Establishes dictionary, edit-distance, and rule-base correction methods that underpin our hybrid pipeline.</a:t>
            </a:r>
          </a:p>
          <a:p>
            <a:pPr marL="285750" indent="-285750" algn="just"/>
            <a:r>
              <a:rPr lang="en-US" sz="2000" b="1"/>
              <a:t>Hajali et al., 2022 (BERT-based OCR correction)</a:t>
            </a:r>
          </a:p>
          <a:p>
            <a:pPr marL="0" indent="0" algn="just">
              <a:buNone/>
            </a:pPr>
            <a:r>
              <a:rPr lang="en-US" sz="2000"/>
              <a:t>Uses BERT for context-aware OCR error correction, motivating the addition of BERT to our hybrid correction     pipeline.</a:t>
            </a:r>
          </a:p>
          <a:p>
            <a:pPr marL="171450" indent="-171450" algn="just"/>
            <a:r>
              <a:rPr lang="en-US" sz="2000" b="1"/>
              <a:t>OCR Error Post-Correction with LLMs (2025)</a:t>
            </a:r>
          </a:p>
          <a:p>
            <a:pPr marL="0" indent="0" algn="just">
              <a:buNone/>
            </a:pPr>
            <a:r>
              <a:rPr lang="en-US" sz="2000"/>
              <a:t>Shows LLMs effectively refine OCR output, supporting our experiments with Mistal-based correction.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98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OCR Models and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CNN–</a:t>
            </a:r>
            <a:r>
              <a:rPr err="1"/>
              <a:t>BiLSTM</a:t>
            </a:r>
            <a:r>
              <a:t>–CTC (trained from scratch on 11k lines)</a:t>
            </a:r>
          </a:p>
          <a:p>
            <a:r>
              <a:rPr err="1"/>
              <a:t>TrOCR</a:t>
            </a:r>
            <a:r>
              <a:t> (</a:t>
            </a:r>
            <a:r>
              <a:rPr err="1"/>
              <a:t>ViT</a:t>
            </a:r>
            <a:r>
              <a:t> + Transformer decoder, fine-tuned on 3k lines)</a:t>
            </a:r>
          </a:p>
          <a:p>
            <a:r>
              <a:t>Kraken (historical OCR, CNN–RNN–CTC, trained on full dataset)</a:t>
            </a:r>
          </a:p>
          <a:p>
            <a:r>
              <a:t>Result: Kraken consistently </a:t>
            </a:r>
            <a:r>
              <a:rPr lang="en-US"/>
              <a:t>highest Accuracy </a:t>
            </a:r>
            <a:r>
              <a:t>and most stable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 with </a:t>
            </a:r>
            <a:r>
              <a:rPr lang="en-US"/>
              <a:t>Language Models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Kraken OCR output</a:t>
            </a:r>
          </a:p>
          <a:p>
            <a:r>
              <a:t>Flan-T5: encoder–decoder baseline, limited robustness to noise</a:t>
            </a:r>
          </a:p>
          <a:p>
            <a:r>
              <a:t>Mistral-7B: large decoder-only LLM, stronger contextual recovery</a:t>
            </a:r>
          </a:p>
          <a:p>
            <a:r>
              <a:t>Mistral-7B selected as final normalizer due to higher fluency and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3AFFE-1276-23EB-F151-EEC2E1325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Additional Normalization Experiments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5ACEF-7348-C92C-4E47-D074A6A19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US"/>
          </a:p>
          <a:p>
            <a:r>
              <a:rPr lang="en-US" err="1">
                <a:ea typeface="+mn-lt"/>
                <a:cs typeface="+mn-lt"/>
              </a:rPr>
              <a:t>SymSpell</a:t>
            </a:r>
            <a:r>
              <a:rPr lang="en-US">
                <a:ea typeface="+mn-lt"/>
                <a:cs typeface="+mn-lt"/>
              </a:rPr>
              <a:t>: Fast spell-checking with edit distance 2, achieved 3.45% improvement in &lt;1 second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Hybrid Pipeline: 5-stage approach (regex + </a:t>
            </a:r>
            <a:r>
              <a:rPr lang="en-US" err="1">
                <a:ea typeface="+mn-lt"/>
                <a:cs typeface="+mn-lt"/>
              </a:rPr>
              <a:t>SymSpell</a:t>
            </a:r>
            <a:r>
              <a:rPr lang="en-US">
                <a:ea typeface="+mn-lt"/>
                <a:cs typeface="+mn-lt"/>
              </a:rPr>
              <a:t> + phonetic + fuzzy matching), achieved 8.86% improvement</a:t>
            </a:r>
            <a:endParaRPr lang="en-US"/>
          </a:p>
          <a:p>
            <a:endParaRPr lang="en-US"/>
          </a:p>
          <a:p>
            <a:r>
              <a:rPr lang="en-US" err="1">
                <a:ea typeface="+mn-lt"/>
                <a:cs typeface="+mn-lt"/>
              </a:rPr>
              <a:t>DistilBERT</a:t>
            </a:r>
            <a:r>
              <a:rPr lang="en-US">
                <a:ea typeface="+mn-lt"/>
                <a:cs typeface="+mn-lt"/>
              </a:rPr>
              <a:t>: Masked language model for context-aware correction, catastrophically failed (-31% degradation)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 Hybrid method selected as optimal: 90% of Mistral's benefit at 600× speed, zero cost, fully deterministic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39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1: Recoverable Lexical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sz="2400"/>
              <a:t>Ground Truth (GT): inserting under one Title a proposition which</a:t>
            </a:r>
          </a:p>
          <a:p>
            <a:r>
              <a:rPr sz="2400"/>
              <a:t>Kraken OCR: inserting under one Tithe a </a:t>
            </a:r>
            <a:r>
              <a:rPr sz="2400" err="1"/>
              <a:t>poposition</a:t>
            </a:r>
            <a:r>
              <a:rPr sz="2400"/>
              <a:t> which</a:t>
            </a:r>
          </a:p>
          <a:p>
            <a:r>
              <a:rPr sz="2400"/>
              <a:t>Mistral-7B Output: inserting under one title a position which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 u="sng"/>
              <a:t>Conclusions</a:t>
            </a:r>
            <a:endParaRPr sz="2400" u="sng"/>
          </a:p>
          <a:p>
            <a:r>
              <a:rPr sz="2400"/>
              <a:t>Kraken preserves sufficient character-level signal</a:t>
            </a:r>
          </a:p>
          <a:p>
            <a:r>
              <a:rPr sz="2400"/>
              <a:t>Mistral-7B corrects OCR confusions and casing without hallucination</a:t>
            </a:r>
            <a:endParaRPr lang="en-US" sz="2400"/>
          </a:p>
          <a:p>
            <a:r>
              <a:rPr lang="en-US" sz="2400"/>
              <a:t>The word “proposition” is not fully recovered and is reduced to “position,” indicating semantic loss introduced at the OCR stage</a:t>
            </a:r>
            <a:endParaRPr sz="2400"/>
          </a:p>
          <a:p>
            <a:r>
              <a:rPr sz="2400"/>
              <a:t>Demonstrates effectiveness of LLM normalization when OCR errors are moderate</a:t>
            </a:r>
          </a:p>
          <a:p>
            <a:r>
              <a:rPr lang="en-US" sz="2400">
                <a:ea typeface="+mn-lt"/>
                <a:cs typeface="+mn-lt"/>
              </a:rPr>
              <a:t>Hybrid normalization (regex + </a:t>
            </a:r>
            <a:r>
              <a:rPr lang="en-US" sz="2400" err="1">
                <a:ea typeface="+mn-lt"/>
                <a:cs typeface="+mn-lt"/>
              </a:rPr>
              <a:t>SymSpell</a:t>
            </a:r>
            <a:r>
              <a:rPr lang="en-US" sz="2400">
                <a:ea typeface="+mn-lt"/>
                <a:cs typeface="+mn-lt"/>
              </a:rPr>
              <a:t> + phonetic) further reduces character-level errors but may not fully restore lost semantics.</a:t>
            </a:r>
            <a:endParaRPr lang="en-US" sz="2400"/>
          </a:p>
          <a:p>
            <a:r>
              <a:rPr lang="en-US" sz="2400" err="1">
                <a:ea typeface="+mn-lt"/>
                <a:cs typeface="+mn-lt"/>
              </a:rPr>
              <a:t>DistilBERT</a:t>
            </a:r>
            <a:r>
              <a:rPr lang="en-US" sz="2400">
                <a:ea typeface="+mn-lt"/>
                <a:cs typeface="+mn-lt"/>
              </a:rPr>
              <a:t> fails to improve output due to domain mismatch, highlighting the need for historical language adaptation.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</a:t>
            </a:r>
            <a:r>
              <a:rPr lang="en-US"/>
              <a:t>1</a:t>
            </a:r>
            <a:r>
              <a:t>: Local Character Confusions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sz="2400"/>
              <a:t>Ground Truth (GT): Offences against the external Security of the State</a:t>
            </a:r>
          </a:p>
          <a:p>
            <a:r>
              <a:rPr sz="2400"/>
              <a:t>Kraken OCR: Offences against the external </a:t>
            </a:r>
            <a:r>
              <a:rPr sz="2400" err="1"/>
              <a:t>Decurity</a:t>
            </a:r>
            <a:r>
              <a:rPr sz="2400"/>
              <a:t> of the Sate</a:t>
            </a:r>
          </a:p>
          <a:p>
            <a:r>
              <a:rPr sz="2400"/>
              <a:t>Mistral-7B Output: Offenses against the external Security of the State</a:t>
            </a:r>
            <a:endParaRPr lang="en-US" sz="2400"/>
          </a:p>
          <a:p>
            <a:pPr marL="0" indent="0">
              <a:buNone/>
            </a:pPr>
            <a:endParaRPr lang="en-US" sz="2400" u="sng"/>
          </a:p>
          <a:p>
            <a:pPr marL="0" indent="0">
              <a:buNone/>
            </a:pPr>
            <a:r>
              <a:rPr lang="en-US" sz="2400" u="sng"/>
              <a:t>Conclusions</a:t>
            </a:r>
            <a:endParaRPr sz="2400" u="sng"/>
          </a:p>
          <a:p>
            <a:r>
              <a:rPr sz="2400"/>
              <a:t>OCR errors are localized character substitutions</a:t>
            </a:r>
          </a:p>
          <a:p>
            <a:r>
              <a:rPr sz="2400"/>
              <a:t>Mistral-7B restores spelling and modern orthography</a:t>
            </a:r>
          </a:p>
          <a:p>
            <a:r>
              <a:rPr sz="2400"/>
              <a:t>Supports improved readability without semantic drift</a:t>
            </a:r>
          </a:p>
          <a:p>
            <a:r>
              <a:rPr lang="en-US" sz="2400">
                <a:ea typeface="+mn-lt"/>
                <a:cs typeface="+mn-lt"/>
              </a:rPr>
              <a:t>Hybrid method corrects most character substitutions, offering robust error correction for localized OCR mistakes.</a:t>
            </a:r>
          </a:p>
          <a:p>
            <a:r>
              <a:rPr lang="en-US" sz="2400" err="1">
                <a:ea typeface="+mn-lt"/>
                <a:cs typeface="+mn-lt"/>
              </a:rPr>
              <a:t>DistilBERT</a:t>
            </a:r>
            <a:r>
              <a:rPr lang="en-US" sz="2400">
                <a:ea typeface="+mn-lt"/>
                <a:cs typeface="+mn-lt"/>
              </a:rPr>
              <a:t> does not yield improvements, reinforcing the limitations of out-of-domain LLMs for this task.</a:t>
            </a:r>
            <a:endParaRPr lang="en-US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</a:t>
            </a:r>
            <a:r>
              <a:rPr lang="en-US"/>
              <a:t>2</a:t>
            </a:r>
            <a:r>
              <a:t>: Upper Bound of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sz="2400"/>
              <a:t>Ground Truth (GT): stand altogether upon so good a footing</a:t>
            </a:r>
          </a:p>
          <a:p>
            <a:r>
              <a:rPr sz="2400"/>
              <a:t>Kraken OCR: stand </a:t>
            </a:r>
            <a:r>
              <a:rPr sz="2400" err="1"/>
              <a:t>allogether</a:t>
            </a:r>
            <a:r>
              <a:rPr sz="2400"/>
              <a:t> upon , so good a footing</a:t>
            </a:r>
          </a:p>
          <a:p>
            <a:r>
              <a:rPr lang="en-US" sz="2400"/>
              <a:t>Mistral-7B:</a:t>
            </a:r>
            <a:r>
              <a:rPr sz="2400"/>
              <a:t> Output: stand altogether on such good footing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 Hybrid Pipeline Output: stand altogether upon so good a footing (preserves meaning)</a:t>
            </a:r>
            <a:endParaRPr lang="en-US" sz="2400"/>
          </a:p>
          <a:p>
            <a:r>
              <a:rPr lang="en-US" sz="2400" err="1">
                <a:ea typeface="+mn-lt"/>
                <a:cs typeface="+mn-lt"/>
              </a:rPr>
              <a:t>DistilBERT</a:t>
            </a:r>
            <a:r>
              <a:rPr lang="en-US" sz="2400">
                <a:ea typeface="+mn-lt"/>
                <a:cs typeface="+mn-lt"/>
              </a:rPr>
              <a:t> Output: note par paper principal a r par exchange r a paper cable (completely </a:t>
            </a:r>
            <a:r>
              <a:rPr lang="en-US" sz="2400" err="1">
                <a:ea typeface="+mn-lt"/>
                <a:cs typeface="+mn-lt"/>
              </a:rPr>
              <a:t>corrupte</a:t>
            </a:r>
            <a:endParaRPr lang="en-US" err="1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 u="sng"/>
              <a:t>Conclusions</a:t>
            </a:r>
            <a:endParaRPr sz="2400" u="sng"/>
          </a:p>
          <a:p>
            <a:r>
              <a:rPr sz="2400"/>
              <a:t>OCR signal is mostly intact but syntactically noisy</a:t>
            </a:r>
          </a:p>
          <a:p>
            <a:r>
              <a:rPr sz="2400"/>
              <a:t>LLM improves fluency while introducing mild paraphrasing</a:t>
            </a:r>
          </a:p>
          <a:p>
            <a:r>
              <a:rPr sz="2400"/>
              <a:t>Illustrates limits of normalization when OCR accuracy degrades</a:t>
            </a:r>
          </a:p>
          <a:p>
            <a:r>
              <a:rPr lang="en-US" sz="2400">
                <a:solidFill>
                  <a:srgbClr val="404040"/>
                </a:solidFill>
                <a:ea typeface="+mn-lt"/>
                <a:cs typeface="+mn-lt"/>
              </a:rPr>
              <a:t>Hybrid method balances accuracy and speed: 8% improvement, &lt;1s processing</a:t>
            </a:r>
          </a:p>
          <a:p>
            <a:r>
              <a:rPr lang="en-US" sz="2400">
                <a:solidFill>
                  <a:srgbClr val="404040"/>
                </a:solidFill>
                <a:ea typeface="+mn-lt"/>
                <a:cs typeface="+mn-lt"/>
              </a:rPr>
              <a:t>Domain mismatch causes </a:t>
            </a:r>
            <a:r>
              <a:rPr lang="en-US" sz="2400" err="1">
                <a:solidFill>
                  <a:srgbClr val="404040"/>
                </a:solidFill>
                <a:ea typeface="+mn-lt"/>
                <a:cs typeface="+mn-lt"/>
              </a:rPr>
              <a:t>DistilBERT</a:t>
            </a:r>
            <a:r>
              <a:rPr lang="en-US" sz="2400">
                <a:solidFill>
                  <a:srgbClr val="404040"/>
                </a:solidFill>
                <a:ea typeface="+mn-lt"/>
                <a:cs typeface="+mn-lt"/>
              </a:rPr>
              <a:t> to fail catastrophically on historical text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can correct moderate OCR noise but not catastrophic errors</a:t>
            </a:r>
          </a:p>
          <a:p>
            <a:r>
              <a:t>Normalization quality is bounded by OCR signal quality</a:t>
            </a:r>
            <a:endParaRPr lang="en-US"/>
          </a:p>
          <a:p>
            <a:r>
              <a:rPr lang="en-US"/>
              <a:t>Kraken uses an internal encoding-decoding procedure that is not identical with the one in python implementation</a:t>
            </a:r>
            <a:endParaRPr/>
          </a:p>
          <a:p>
            <a:r>
              <a:t>GPU constraints limit </a:t>
            </a:r>
            <a:r>
              <a:rPr err="1"/>
              <a:t>TrOCR</a:t>
            </a:r>
            <a:r>
              <a:t> fine-tuning and hyperparameter search</a:t>
            </a:r>
          </a:p>
          <a:p>
            <a:r>
              <a:t>Some historical ambiguities cannot be resolved automatically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Domain-adapted OCR is critical for historical documents</a:t>
            </a:r>
          </a:p>
          <a:p>
            <a:r>
              <a:t>Kraken + Mistral-7B forms the strongest end-to-end pipeline</a:t>
            </a:r>
          </a:p>
          <a:p>
            <a:r>
              <a:t>Pipeline substantially improves readability of EME texts</a:t>
            </a:r>
          </a:p>
          <a:p>
            <a:r>
              <a:t>Future work: larger OCR models, confidence-aware correction</a:t>
            </a:r>
            <a:r>
              <a:rPr lang="en-US"/>
              <a:t>, improved NLP techniques with lower latency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On-screen Show (4:3)</PresentationFormat>
  <Slides>12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Facet</vt:lpstr>
      <vt:lpstr>Deep Learning OCR and Normalization for Early Modern English</vt:lpstr>
      <vt:lpstr>Problem Setting</vt:lpstr>
      <vt:lpstr>Data and System Pipeline</vt:lpstr>
      <vt:lpstr>Literature Review</vt:lpstr>
      <vt:lpstr>OCR Models and Findings</vt:lpstr>
      <vt:lpstr>Normalization with Language Models</vt:lpstr>
      <vt:lpstr>Additional Normalization Experiments </vt:lpstr>
      <vt:lpstr>Example 1: Recoverable Lexical Noise</vt:lpstr>
      <vt:lpstr>Example 1: Local Character Confusions</vt:lpstr>
      <vt:lpstr>Example 2: Upper Bound of Normalization</vt:lpstr>
      <vt:lpstr>Discussion and 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OCR and Normalization for Early Modern English</dc:title>
  <dc:subject/>
  <dc:creator/>
  <cp:keywords/>
  <dc:description>generated using python-pptx</dc:description>
  <cp:revision>2</cp:revision>
  <dcterms:created xsi:type="dcterms:W3CDTF">2013-01-27T09:14:16Z</dcterms:created>
  <dcterms:modified xsi:type="dcterms:W3CDTF">2025-12-15T23:42:59Z</dcterms:modified>
  <cp:category/>
</cp:coreProperties>
</file>